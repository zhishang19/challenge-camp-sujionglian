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0" y="1645920"/>
            <a:ext cx="7589520" cy="329184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OS Agent 记忆优化</a:t>
            </a:r>
          </a:p>
          <a:p>
            <a:pPr>
              <a:defRPr sz="5200" b="1">
                <a:solidFill>
                  <a:srgbClr val="FFFFFF"/>
                </a:solidFill>
              </a:defRPr>
            </a:pPr>
            <a:r>
              <a:t>及高效应用研究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0B4D8"/>
                </a:solidFill>
              </a:defRPr>
            </a:pPr>
            <a:r>
              <a:t>14 天选拔集训 · 成果汇报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2286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苏炯濂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2026-06-09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目  录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01    赛题理解与集训定位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02    项目技术架构与数据流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03    Phase 1 · 数据清洗与 Git 基础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04    Phase 2 · 多源数据整合与质量评测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05    Phase 3 · AI 应用开发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06    Phase 4 · 麒麟环境与数据库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07    成果数据统计</a:t>
            </a: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</a:p>
          <a:p>
            <a:pPr>
              <a:spcAft>
                <a:spcPts val="500"/>
              </a:spcAft>
              <a:defRPr sz="1800">
                <a:solidFill>
                  <a:srgbClr val="333344"/>
                </a:solidFill>
              </a:defRPr>
            </a:pPr>
            <a:r>
              <a:t>08    技能收获与展望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赛题理解与集训定位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OS Agent 记忆优化（偏好记忆 + 知识记忆）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▎ 赛题核心能力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多源数据整合、清洗、格式标准化与质量校验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偏好记忆的动态捕捉与版本化管理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知识记忆的结构化整合与关联检索（端侧 ≤500ms）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敏感信息识别与过滤（PII 脱敏）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短期 / 中期 / 长期记忆数据流转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▎ 集训信息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性质：选拔性集训 | 14 天 | 约 25 人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选拔：Top 10 入队 + 5 替补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形式：资料自学 + 教师答疑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项目：个人独立仓库</a:t>
            </a:r>
          </a:p>
          <a:p>
            <a:pPr lvl="1">
              <a:spcAft>
                <a:spcPts val="600"/>
              </a:spcAft>
              <a:defRPr sz="1400">
                <a:solidFill>
                  <a:srgbClr val="333344"/>
                </a:solidFill>
              </a:defRPr>
            </a:pPr>
            <a:r>
              <a:t>  • 评测：四阶段逐级淘汰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840480"/>
          <a:ext cx="10424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2004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建议天数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晋级规则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我的状态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1 基础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1-4 天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全员通过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已完成 (Git 3 次提交)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2 巩固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3-5 天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≥55 分，累计 ≥120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已完成 (报告+数据)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3 提升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3-5 天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≥60 分，累计 ≥175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已完成 (5/5 测例)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拓展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5 天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Top 10 入队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已完成 (PPT+SQLite)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项目技术架构与数据流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4 层架构 · Python + Java + SQLite +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┌── 数据层 ─────────────────────────┐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raw/d2,d3  → merge_day2 / clean_basic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user_behavior, tool_result, chat_sessions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输出: merged.jsonl (9行), clean.csv  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               ↓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┌── 整合层 (Phase 2) 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consolidate.py → 7 模块 JSON   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chat_turns / preferences / knowledge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tool_exec / memory_events / snapshots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+ quality_evaluation (10/10 hit)  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               ↓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┌── 应用层 (Phase 3) 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LangChain4j /api/chat + LangGraph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Mini Memory Agent CLI + TEST.md  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5/5 test cases passed            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└────────────────────────────────────┘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               ↓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┌── 存储层 (Phase 4) ───────────────┐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SQLite memory.db (5 tables, 36KB)     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│ 5 CSV exports + Benchmark (0.33ms avg) │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└────────────────────────────────────┘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技术栈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Python 3.12+    数据清洗、整合、Agent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Java 17          Spring Boot 3.3.5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LangChain4j      LLM 对话接口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LangGraph        4 节点工作流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SQLite           端侧轻量数据库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Git / GitHub     4 分支版本管理</a:t>
            </a: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核心指标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检索延迟  0.33ms avg (目标 ≤500ms)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PII 脱敏  100%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质量评测  10/10 hit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测试通过  5/5 tests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数据库    memory.db 36KB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CSV 导出  5 文件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录屏      demo.mp4 21MB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1 · 数据清洗与 Git 基础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D2 多源合并 / D3 CSV 清洗 / 分支合并含冲突处理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1 — 基础阶段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D2 · merge_day2.py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读取 raw/d2/user_behavior.json (8条) + tool_result.json (3条)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处理流程:</a:t>
            </a:r>
          </a:p>
          <a:p>
            <a:pPr lvl="2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  ① 字段校验 (uid/action/content 必填, status 枚举校验)</a:t>
            </a:r>
          </a:p>
          <a:p>
            <a:pPr lvl="2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  ② 文本清洗 (HTML 标签、emoji、填充词、错别字修正)</a:t>
            </a:r>
          </a:p>
          <a:p>
            <a:pPr lvl="2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  ③ 时间标准化 (8 种格式 → YYYY-MM-DD HH:MM:SS)</a:t>
            </a:r>
          </a:p>
          <a:p>
            <a:pPr lvl="2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  ④ 大颗粒度去重 (uid+action+content 三元组)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输出: merged.jsonl (9 行，去重 1 条重复)</a:t>
            </a: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D3 · clean_basic.py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读取 chat_sessions_dirty.csv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清洗: HTML 清理 / 填充词移除 / 手机号邮箱脱敏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输出: chat_sessions_clean.csv + review_log.txt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716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Git · do_git_merge.py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演示含冲突的 Git 分支合并流程: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• git init → 创建 main + feature 分支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• 模拟 3 类冲突: clear cut / conflict / auto merge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• 解决策略: keep_latest</a:t>
            </a: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</a:p>
          <a:p>
            <a:pPr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▎ 验收清单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AI 工具 &gt;=2        Trae AI + 通义千问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README.md         环境清单 (OS/Python/Git/IDE)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Git 提交 &gt;=2       3 次提交 (phase1-basics)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.gitignore        敏感文件排除</a:t>
            </a:r>
          </a:p>
          <a:p>
            <a:pPr lvl="1">
              <a:spcAft>
                <a:spcPts val="300"/>
              </a:spcAft>
              <a:defRPr sz="1250">
                <a:solidFill>
                  <a:srgbClr val="333344"/>
                </a:solidFill>
              </a:defRPr>
            </a:pPr>
            <a:r>
              <a:t>  clean.log         字段校验 + 清洗操作日志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2 · 多源数据整合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consolidate.py — 7 大模块 / 6 类 JSON / 质量评测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 — 巩固阶段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1371600"/>
                <a:gridCol w="41148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JSON 文件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记录数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关键处理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chat_turns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chat_turns.json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7 条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uid/role/time 标准化, PII 脱敏, 去重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preferences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preferences.json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4 条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2 冲突: output_style / emoji_style, keep_latest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knowledge_items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knowledge_items.json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7 条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标题/正文/标签/来源/类型, 过滤无效案例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tool_executions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tool_executions.json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 条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D4 tool_log 过滤 (非可执行记录)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memory_events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memory_events.json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14 条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7 chat + 7 knowledge items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memory_snapshots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memory_snapshots_resolved.json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6 条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 冲突已解决 (output_style/emoji/answer)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quality_evaluation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quality_evaluation.json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 案例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10/10 hit, PII leak 0/10</a:t>
                      </a:r>
                    </a:p>
                  </a:txBody>
                  <a:tcPr anchor="ctr" marL="137160" marR="13716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46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核心机制    PII 脱敏: 邮箱 → [REDACTED], 手机号 → [REDACTED]　|　冲突合并: keep_latest / keep_previous / needs_review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质量报告    report.md (清洗规则/异常计数/样例对比/停顿词统计) + quality_eval_report.md (10 案例逐条分析)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2 · 冲突解决与质量评测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3 类偏好冲突 / 10 个质量案例 / 100% 命中率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00B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2 — 巩固阶段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5156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286000"/>
                <a:gridCol w="2286000"/>
                <a:gridCol w="16459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用户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冲突键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版本 v1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版本 v2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胜出者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策略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u001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output_style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详细版+表格 (v1)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简洁版 (v2)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简洁版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keep_latest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u002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emoji_style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禁用 emoji (v1)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允许 emoji (v2)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允许 emoji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keep_latest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u007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answer_style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先结论再步骤 (v1)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详细解释 (v2)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详细解释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keep_latest</a:t>
                      </a:r>
                    </a:p>
                  </a:txBody>
                  <a:tcPr anchor="ctr" marL="137160" marR="137160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10896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200400"/>
                <a:gridCol w="914400"/>
                <a:gridCol w="1097280"/>
                <a:gridCol w="4389120"/>
              </a:tblGrid>
              <a:tr h="36576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编号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查询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PII 泄露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分析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Q001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帮我导出月报，按我的偏好来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偏好感知查询 → 知识检索</a:t>
                      </a:r>
                    </a:p>
                  </a:txBody>
                  <a:tcPr anchor="ctr" marL="137160" marR="13716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Q003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麒麟系统怎么更新驱动？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直接命中 K004 (麒麟装驱动)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Q005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把今天会议整理一下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匹配 K003 + 同义词扩展</a:t>
                      </a:r>
                    </a:p>
                  </a:txBody>
                  <a:tcPr anchor="ctr" marL="137160" marR="13716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Q008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离线安装 deb 包失败怎么办？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deb→dpkg 同义词扩展命中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Q010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web_search 超时，驱动知识不能用？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否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工具超时 + 知识回退</a:t>
                      </a:r>
                    </a:p>
                  </a:txBody>
                  <a:tcPr anchor="ctr" marL="137160" marR="137160"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汇总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 案例全部命中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0/10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hit_rate=100%, pii_leak=0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3 · LangChain4j + LangGraph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Java Spring Boot API / Python 4 节点工作流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 — 提升阶段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▎ LangChain4j (Java Spring Boot 3.3.5)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GET /api/chat?q=xxx&amp;uid=u001  — LLM 对话接口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PreferenceLoader 读取 preferences.json → SystemMessage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支持 Ollama / OpenAI 切换 (CAMP_LLM_PROVIDER 环境变量)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API Key 不入库 — .env.example 替代，.env 在 .gitignore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mvn compile 通过，5 个 Java 源文件</a:t>
            </a:r>
          </a:p>
          <a:p>
            <a:pPr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</a:p>
          <a:p>
            <a:pPr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▎ LangGraph 工作流 (Pure Python)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4 节点:</a:t>
            </a:r>
          </a:p>
          <a:p>
            <a:pPr lvl="2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  ① filter_sensitive  — PII 模式检测 (email/phone/id_card/ip)</a:t>
            </a:r>
          </a:p>
          <a:p>
            <a:pPr lvl="2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  ② classify          — 意图分类 (knowledge/casual/disable)</a:t>
            </a:r>
          </a:p>
          <a:p>
            <a:pPr lvl="2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  ③ retrieve / chat    — Bigram 检索 / 普通回复</a:t>
            </a:r>
          </a:p>
          <a:p>
            <a:pPr lvl="2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  ④ output             — 格式化 + 偏好注入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知识源: Phase 2 knowledge_items.json (7 条)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1371600"/>
            <a:ext cx="5029200" cy="237744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663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# LangGraph 4-node pipeline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state = {'query': user_input}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state = filter_sensitive(state)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state = classify(state)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if state['intent'] == 'know':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    state = retrieve(state)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else: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    state = chat(state)</a:t>
            </a:r>
          </a:p>
          <a:p>
            <a:pPr>
              <a:spcAft>
                <a:spcPts val="200"/>
              </a:spcAft>
              <a:defRPr sz="1100">
                <a:solidFill>
                  <a:srgbClr val="B0D0E0"/>
                </a:solidFill>
                <a:latin typeface="Consolas"/>
              </a:defRPr>
            </a:pPr>
            <a:r>
              <a:t>state = output(state)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931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▎ 技术要点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Bigram 检索: O(n) 纯 Python, 无需 embedding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同义词扩展: 月报→会议纪要, deb→dpkg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意图分类: 关键词匹配 (不调 LLM)</a:t>
            </a:r>
          </a:p>
          <a:p>
            <a:pPr lvl="1">
              <a:spcAft>
                <a:spcPts val="250"/>
              </a:spcAft>
              <a:defRPr sz="1250">
                <a:solidFill>
                  <a:srgbClr val="333344"/>
                </a:solidFill>
              </a:defRPr>
            </a:pPr>
            <a:r>
              <a:t>  • PII 匹配: 邮箱/手机号/身份证/IP 4 种模式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3 · Mini Memory Agent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CLI 交互式 Agent · 5/5 测例通过 · 录屏 demo.mp4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008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3 — 提升阶段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2560320"/>
                <a:gridCol w="2286000"/>
                <a:gridCol w="22860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测试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用户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预期行为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验证点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Test 1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u001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麒麟系统如何更新驱动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检索 K004+K005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bigram 匹配 + 偏好注入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 marL="137160" marR="137160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Test 2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u001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写月报摘要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检索 K003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月报→会议纪要 同义词扩展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Test 3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u002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你好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非知识查询 → 记忆快照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emoji 偏好检测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 marL="137160" marR="137160"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Test 4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u003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离线安装 .deb 包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检索 K002+dpkg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deb→dpkg 同义词扩展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Test 5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u004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liubei@shu.com 别记下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PII 脱敏 + forget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email redact + forget 标记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 marL="137160" marR="13716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846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Agent 架构   输入 → PII 检测 → 意图分类 → 知识检索 (bigram+同义词) → 偏好注入 → 记忆快照更新 → 输出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数据来源     knowledge_items.json (7条) + preferences.json (4条) + memory_snapshots.json (6条)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运行方式     python mini_memory_agent.py --test  (5 测例自动验证)   |   python mini_memory_agent.py  (交互模式)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交付物       TEST.md (5 条测例) + demo.mp4 (21MB 录屏) + min_memory_agent.py (500+ 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4 · 麒麟环境与数据库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SQLite 5 表 · CSV 导出 · 检索基准 ≤500ms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 — 拓展阶段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4241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109728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表名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记录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knowledge_items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id, title, body, tags, type, source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知识条目 (含 K001-K007)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preferences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uid, pref_key, pref_value, type, version, ttl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用户偏好 (2 冲突已解决)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chat_turns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session_id, user_id, role, message, created_at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对话历史 (PII 已脱敏)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tool_executions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tool_id, source, content, status, duration_ms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工具调用记录 (全部 tool_log)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memory_snapshots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uid, key, memory_value, version, scope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记忆快照 (3 冲突 resolved)</a:t>
                      </a:r>
                    </a:p>
                  </a:txBody>
                  <a:tcPr anchor="ctr" marL="137160" marR="13716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8404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麒麟环境   kylin_setup.md — 安装流程 / 基础命令 / 环境配置 / 排查指南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CSV 导出   exports/ 目录 — 5 个 CSV (utf-8-sig), Excel 直接打开无乱码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▎ 检索基准   benchmark_retrieval.py — 750 样本 (15 query x 50 iterations)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5029200"/>
          <a:ext cx="10607040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645920"/>
                <a:gridCol w="1188720"/>
                <a:gridCol w="1188720"/>
                <a:gridCol w="1188720"/>
                <a:gridCol w="118872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Avg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Median (P50)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P95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P99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延迟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0.33ms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0.10ms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1.02ms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1.06ms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0.05ms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1.23ms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100% (750/750)</a:t>
                      </a:r>
                    </a:p>
                  </a:txBody>
                  <a:tcPr anchor="ctr" marL="137160" marR="13716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347472"/>
            <a:ext cx="201168" cy="201168"/>
          </a:xfrm>
          <a:prstGeom prst="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Phase 4 · 终选答辩准备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PPT 制作 + 理论 Q&amp;A 33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35040"/>
            <a:ext cx="2011680" cy="41148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PHASE 4 — 拓展阶段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▎ 答辩 PPT (15 页)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封面 → 目录 → 赛题理解 → 技术架构 → Phase 1-4 (各 1-2 页) → 成果统计 → 展望 → 致谢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设计: 深蓝 + 青色专业配色 / 侧边栏导航 / 数据驱动 / 代码片段</a:t>
            </a:r>
          </a:p>
          <a:p>
            <a:pPr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</a:p>
          <a:p>
            <a:pPr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▎ 理论准备 (答辩理论Q_A.md — 33 题)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数据清洗 (Q1-Q4)     PII、去重、时间标准化、停顿词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Git 版本管理 (Q5-Q8)  四区模型、冲突解决、.gitignore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Python 基础 (Q9-Q12)  列表/字典、__main__、JSON、正则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AI 应用 (Q13-Q19)     LangChain4j、LangGraph、bigram、同义词扩展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数据库 (Q20-Q22)      SQLite 选型、5 张表、CSV 导出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麒麟 OS (Q23-Q25)     麒麟 vs Ubuntu、安装命令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安全隐私 (Q26-Q27)    PII 脱敏、forget 机制、API Key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工程素养 (Q28-Q30)    requirements.txt、README、收获</a:t>
            </a:r>
          </a:p>
          <a:p>
            <a:pPr lvl="1">
              <a:spcAft>
                <a:spcPts val="250"/>
              </a:spcAft>
              <a:defRPr sz="1300">
                <a:solidFill>
                  <a:srgbClr val="333344"/>
                </a:solidFill>
              </a:defRPr>
            </a:pPr>
            <a:r>
              <a:t>  Mini Agent (Q31-Q33)  架构、5 测例、≤500ms 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成果数据总览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4 个阶段 · 输出 6 类 JSON · 5 个 CSV · 100% 测试通过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8778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320040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状态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1 数据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merged.jsonl (去重后)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9 行 (&gt;=8 要求)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1 数据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clean_basic CSV 清洗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chat_sessions_clean.csv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1 Git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Git 提交次数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 次 (phase1-basics)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2 整合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JSON 输出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6 类文件 (24 条记录)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2 质量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Quality Eval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10/10 hit, 0 PII leak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2 冲突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偏好冲突解决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 冲突 (keep_latest)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3 Java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Spring Boot 编译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mvn compile 通过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3 Agent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Mini Agent 测例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5/5 PASS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3 录屏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demo.mp4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21 MB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SQLite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memory.db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36 KB, 5 tables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导出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CSV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5 files (utf-8-sig)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检索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Benchmark (750 样本)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avg 0.33ms, 100% ≤500ms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PPT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终选答辩_v2.pptx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15 slides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 4 理论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答辩理论Q_A.md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33 题覆盖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通过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Git 版本管理 &amp; 工程规范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4 分支 / 5 次提交 / 仓库地址: github.com/zhishang19/challenge-camp-sujionglian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424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50292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分支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提交数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关键文件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验收点</a:t>
                      </a:r>
                    </a:p>
                  </a:txBody>
                  <a:tcPr anchor="ctr" marL="137160" marR="137160">
                    <a:solidFill>
                      <a:srgbClr val="00B4D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phase1-basics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3 次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merge_day2 / clean_basic / do_git_merge + README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AI工具&gt;=2, Git&gt;=2次, .gitignore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phase2-consolidate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2 次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consolidate.py + 6 JSON + report.md + requirements.txt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4类JSON+报告, Git笔记, pipeline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phase3-advance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2 次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LangChain4j + LangGraph + MiniAgent + TEST.md + demo.mp4</a:t>
                      </a:r>
                    </a:p>
                  </a:txBody>
                  <a:tcPr anchor="ctr" marL="137160" marR="137160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/api/chat, 工作流, 5测例, 录屏</a:t>
                      </a:r>
                    </a:p>
                  </a:txBody>
                  <a:tcPr anchor="ctr" marL="137160" marR="137160"/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phase4-extend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1 次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setup_db.py + benchmark + kylin_setup + PPT + Q&amp;A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333344"/>
                          </a:solidFill>
                        </a:defRPr>
                      </a:pPr>
                      <a:r>
                        <a:t>SQLite, CSV导出, PPT, 检索基准</a:t>
                      </a:r>
                    </a:p>
                  </a:txBody>
                  <a:tcPr anchor="ctr" marL="137160" marR="137160">
                    <a:solidFill>
                      <a:srgbClr val="E8F4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333344"/>
                </a:solidFill>
              </a:defRPr>
            </a:pPr>
            <a:r>
              <a:t>▎ 工程规范    .gitignore (.env/__pycache__/target/) + requirements.txt + D05-Git协作.md (Git 使用笔记)</a:t>
            </a:r>
          </a:p>
          <a:p>
            <a:pPr>
              <a:spcAft>
                <a:spcPts val="300"/>
              </a:spcAft>
              <a:defRPr sz="1300">
                <a:solidFill>
                  <a:srgbClr val="333344"/>
                </a:solidFill>
              </a:defRPr>
            </a:pPr>
            <a:r>
              <a:t>▎ 安全措施    API Key 不入库 (.env.example) · 敏感信息 .gitignore 排除 · demo.mp4 录屏证明可运行 · TEST.md 自动化验证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技能收获与成长</a:t>
            </a:r>
          </a:p>
          <a:p>
            <a:pPr>
              <a:defRPr sz="1400">
                <a:solidFill>
                  <a:srgbClr val="909AA3"/>
                </a:solidFill>
              </a:defRPr>
            </a:pPr>
            <a:r>
              <a:t>5 大能力域 · 从零到交付完整 Agent 记忆管线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00B4D8"/>
                </a:solidFill>
              </a:defRPr>
            </a:pPr>
            <a:r>
              <a:t>——————————————————————————————————————————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828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Python 数据工程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44"/>
                </a:solidFill>
              </a:defRPr>
            </a:pPr>
            <a:r>
              <a:t>JSON/CSV/JSONL 处理 → 正则表达式 → 文本清洗 → dedup → 时间标准化 → 日志记录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1828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Git 版本管理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96596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44"/>
                </a:solidFill>
              </a:defRPr>
            </a:pPr>
            <a:r>
              <a:t>4 分支独立开发 → merge 冲突解决 → .gitignore 敏感文件排除 → commit 规范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1828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 应用开发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44"/>
                </a:solidFill>
              </a:defRPr>
            </a:pPr>
            <a:r>
              <a:t>LangChain4j Spring Boot → /api/chat 接口 → SystemMessage 偏好注入 → LangGraph 4 节点工作流 → bigram 检索 → 同义词扩展 → PII 脱敏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80"/>
            <a:ext cx="1828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5468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44"/>
                </a:solidFill>
              </a:defRPr>
            </a:pPr>
            <a:r>
              <a:t>SQLite 建表/导入/查询/导出 → CSV 编码 (utf-8-sig) → 5 表 schema 设计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182880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国产 OS 意识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49040"/>
            <a:ext cx="8686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44"/>
                </a:solidFill>
              </a:defRPr>
            </a:pPr>
            <a:r>
              <a:t>麒麟操作系统环境认知 → 安装流程 → apt 包管理 → 端侧部署概念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▎ 短期改进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接入麒麟 embedding SDK 替代 bigram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实现端侧向量数据库 (ChromaDB/LanceDB)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多轮对话上下文管理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冲突 Explainability (A/B 版本对比)</a:t>
            </a:r>
          </a:p>
          <a:p>
            <a:pPr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▎ 长期方向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完整 Agent 记忆模块架构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麒麟 OS 端侧部署与性能测试</a:t>
            </a:r>
          </a:p>
          <a:p>
            <a:pPr lvl="1">
              <a:spcAft>
                <a:spcPts val="400"/>
              </a:spcAft>
              <a:defRPr sz="1500">
                <a:solidFill>
                  <a:srgbClr val="333344"/>
                </a:solidFill>
              </a:defRPr>
            </a:pPr>
            <a:r>
              <a:t>  • 安全审计 (PII 全链路追踪)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22860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6400">
                <a:solidFill>
                  <a:srgbClr val="FFFFFF"/>
                </a:solidFill>
              </a:defRPr>
            </a:pPr>
            <a:r>
              <a:t>谢 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3474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3200">
                <a:solidFill>
                  <a:srgbClr val="00B4D8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45720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GitHub: github.com/zhishang19/challenge-camp-sujionglian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Phase 1 · 基础  →  3 commits, merged.jsonl 9 rows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Phase 2 · 巩固  →  6 JSON, 10/10 quality hit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Phase 3 · 提升  →  5/5 tests, demo.mp4 21MB</a:t>
            </a:r>
          </a:p>
          <a:p>
            <a:pPr>
              <a:spcAft>
                <a:spcPts val="300"/>
              </a:spcAft>
              <a:defRPr sz="1200">
                <a:solidFill>
                  <a:srgbClr val="333344"/>
                </a:solidFill>
              </a:defRPr>
            </a:pPr>
            <a:r>
              <a:t>Phase 4 · 拓展  →  SQLite 36KB, PPT 15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09AA3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